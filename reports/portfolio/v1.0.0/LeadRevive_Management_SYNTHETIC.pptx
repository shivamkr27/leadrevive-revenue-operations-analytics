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Evidence: snapshot 9a80207b950500a9; data revision d0b3c24632131978efcdfa1d8cb57f1d46347e76d109e3a596ef0f8c8084c401; export generation f03b072d3f984a95a83a34ccb865a534. All data synthetic. Figures use verified KPI fields; image hashes recorded in metadata.json. Original Power BI window screenshots are cropped to the report canvas in slide viewports only; original pixels/files are retained. No recovered revenue or external delivery claim.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Evidence: snapshot 9a80207b950500a9; data revision d0b3c24632131978efcdfa1d8cb57f1d46347e76d109e3a596ef0f8c8084c401; export generation f03b072d3f984a95a83a34ccb865a534. All data synthetic. Figures use verified KPI fields; image hashes recorded in metadata.json. Original Power BI window screenshots are cropped to the report canvas in slide viewports only; original pixels/files are retained. No recovered revenue or external delivery claim.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Evidence: snapshot 9a80207b950500a9; data revision d0b3c24632131978efcdfa1d8cb57f1d46347e76d109e3a596ef0f8c8084c401; export generation f03b072d3f984a95a83a34ccb865a534. All data synthetic. Figures use verified KPI fields; image hashes recorded in metadata.json. Original Power BI window screenshots are cropped to the report canvas in slide viewports only; original pixels/files are retained. No recovered revenue or external delivery claim.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Evidence: snapshot 9a80207b950500a9; data revision d0b3c24632131978efcdfa1d8cb57f1d46347e76d109e3a596ef0f8c8084c401; export generation f03b072d3f984a95a83a34ccb865a534. All data synthetic. Figures use verified KPI fields; image hashes recorded in metadata.json. Original Power BI window screenshots are cropped to the report canvas in slide viewports only; original pixels/files are retained. No recovered revenue or external delivery claim.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Evidence: snapshot 9a80207b950500a9; data revision d0b3c24632131978efcdfa1d8cb57f1d46347e76d109e3a596ef0f8c8084c401; export generation f03b072d3f984a95a83a34ccb865a534. All data synthetic. Figures use verified KPI fields; image hashes recorded in metadata.json. Original Power BI window screenshots are cropped to the report canvas in slide viewports only; original pixels/files are retained. No recovered revenue or external delivery claim.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Evidence: snapshot 9a80207b950500a9; data revision d0b3c24632131978efcdfa1d8cb57f1d46347e76d109e3a596ef0f8c8084c401; export generation f03b072d3f984a95a83a34ccb865a534. All data synthetic. Figures use verified KPI fields; image hashes recorded in metadata.json. Original Power BI window screenshots are cropped to the report canvas in slide viewports only; original pixels/files are retained. No recovered revenue or external delivery claim.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Evidence: snapshot 9a80207b950500a9; data revision d0b3c24632131978efcdfa1d8cb57f1d46347e76d109e3a596ef0f8c8084c401; export generation f03b072d3f984a95a83a34ccb865a534. All data synthetic. Figures use verified KPI fields; image hashes recorded in metadata.json. Original Power BI window screenshots are cropped to the report canvas in slide viewports only; original pixels/files are retained. No recovered revenue or external delivery claim.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Evidence: snapshot 9a80207b950500a9; data revision d0b3c24632131978efcdfa1d8cb57f1d46347e76d109e3a596ef0f8c8084c401; export generation f03b072d3f984a95a83a34ccb865a534. All data synthetic. Figures use verified KPI fields; image hashes recorded in metadata.json. Original Power BI window screenshots are cropped to the report canvas in slide viewports only; original pixels/files are retained. No recovered revenue or external delivery claim.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Evidence: snapshot 9a80207b950500a9; data revision d0b3c24632131978efcdfa1d8cb57f1d46347e76d109e3a596ef0f8c8084c401; export generation f03b072d3f984a95a83a34ccb865a534. All data synthetic. Figures use verified KPI fields; image hashes recorded in metadata.json. Original Power BI window screenshots are cropped to the report canvas in slide viewports only; original pixels/files are retained. No recovered revenue or external delivery claim.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Evidence: snapshot 9a80207b950500a9; data revision d0b3c24632131978efcdfa1d8cb57f1d46347e76d109e3a596ef0f8c8084c401; export generation f03b072d3f984a95a83a34ccb865a534. All data synthetic. Figures use verified KPI fields; image hashes recorded in metadata.json. Original Power BI window screenshots are cropped to the report canvas in slide viewports only; original pixels/files are retained. No recovered revenue or external delivery claim.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55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155E49"/>
                </a:solidFill>
                <a:latin typeface="Aptos"/>
              </a:defRPr>
            </a:pPr>
            <a:r>
              <a:t>LEADREVIVE  /  MANAGEMENT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000" b="1">
                <a:solidFill>
                  <a:srgbClr val="193C31"/>
                </a:solidFill>
                <a:latin typeface="Aptos"/>
              </a:defRPr>
            </a:pPr>
            <a:r>
              <a:t>Make missed follow-up work visible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36192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0">
                <a:solidFill>
                  <a:srgbClr val="52665F"/>
                </a:solidFill>
                <a:latin typeface="Aptos"/>
              </a:defRPr>
            </a:pPr>
            <a:r>
              <a:t>Revenue leakage &amp; lead recovery intelligence | Business operations portfolio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28232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52665F"/>
                </a:solidFill>
                <a:latin typeface="Aptos"/>
              </a:defRPr>
            </a:pPr>
            <a:r>
              <a:t>SYNTHETIC  |  9a80207b950500a9  |  d0b3c24632  |  External live delivery disabled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2665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286000"/>
            <a:ext cx="6400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600" b="0">
                <a:solidFill>
                  <a:srgbClr val="193C31"/>
                </a:solidFill>
                <a:latin typeface="Aptos"/>
              </a:defRPr>
            </a:pPr>
            <a:r>
              <a:t>Question</a:t>
            </a:r>
          </a:p>
          <a:p>
            <a:pPr>
              <a:spcAft>
                <a:spcPts val="1200"/>
              </a:spcAft>
              <a:defRPr sz="2600" b="0">
                <a:solidFill>
                  <a:srgbClr val="193C31"/>
                </a:solidFill>
                <a:latin typeface="Aptos"/>
              </a:defRPr>
            </a:pPr>
            <a:r>
              <a:t>Which enquiries need attention, who owns the next action, and can a repeatable process surface missed work?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2286000"/>
            <a:ext cx="3200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700" b="1">
                <a:solidFill>
                  <a:srgbClr val="155E49"/>
                </a:solidFill>
                <a:latin typeface="Aptos"/>
              </a:defRPr>
            </a:pPr>
            <a:r>
              <a:t>758</a:t>
            </a:r>
          </a:p>
          <a:p>
            <a:pPr>
              <a:spcAft>
                <a:spcPts val="1200"/>
              </a:spcAft>
              <a:defRPr sz="2700" b="1">
                <a:solidFill>
                  <a:srgbClr val="155E49"/>
                </a:solidFill>
                <a:latin typeface="Aptos"/>
              </a:defRPr>
            </a:pPr>
            <a:r>
              <a:t>synthetic records</a:t>
            </a:r>
          </a:p>
          <a:p>
            <a:pPr>
              <a:spcAft>
                <a:spcPts val="1200"/>
              </a:spcAft>
              <a:defRPr sz="2700" b="1">
                <a:solidFill>
                  <a:srgbClr val="155E49"/>
                </a:solidFill>
                <a:latin typeface="Aptos"/>
              </a:defRPr>
            </a:pPr>
          </a:p>
          <a:p>
            <a:pPr>
              <a:spcAft>
                <a:spcPts val="1200"/>
              </a:spcAft>
              <a:defRPr sz="2700" b="1">
                <a:solidFill>
                  <a:srgbClr val="155E49"/>
                </a:solidFill>
                <a:latin typeface="Aptos"/>
              </a:defRPr>
            </a:pPr>
            <a:r>
              <a:t>13 documented KPIs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55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155E49"/>
                </a:solidFill>
                <a:latin typeface="Aptos"/>
              </a:defRPr>
            </a:pPr>
            <a:r>
              <a:t>LEADREVIVE  /  MANAGEMENT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000" b="1">
                <a:solidFill>
                  <a:srgbClr val="193C31"/>
                </a:solidFill>
                <a:latin typeface="Aptos"/>
              </a:defRPr>
            </a:pPr>
            <a:r>
              <a:t>A reliable record before a reminder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36192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0">
                <a:solidFill>
                  <a:srgbClr val="52665F"/>
                </a:solidFill>
                <a:latin typeface="Aptos"/>
              </a:defRPr>
            </a:pPr>
            <a:r>
              <a:t>Canonical PostgreSQL; normalized intake; conservative conflict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28232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52665F"/>
                </a:solidFill>
                <a:latin typeface="Aptos"/>
              </a:defRPr>
            </a:pPr>
            <a:r>
              <a:t>SYNTHETIC  |  9a80207b950500a9  |  d0b3c24632  |  External live delivery disabled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2665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19456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500" b="1">
                <a:solidFill>
                  <a:srgbClr val="155E49"/>
                </a:solidFill>
                <a:latin typeface="Aptos"/>
              </a:defRPr>
            </a:pPr>
            <a:r>
              <a:t>Capture → validate → assign → prioritize → remind → review → measure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474720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0">
                <a:solidFill>
                  <a:srgbClr val="193C31"/>
                </a:solidFill>
                <a:latin typeface="Aptos"/>
              </a:defRPr>
            </a:pPr>
            <a:r>
              <a:t>Sales associate: own and reschedule work</a:t>
            </a:r>
          </a:p>
          <a:p>
            <a:pPr>
              <a:spcAft>
                <a:spcPts val="1200"/>
              </a:spcAft>
              <a:defRPr sz="2200" b="0">
                <a:solidFill>
                  <a:srgbClr val="193C31"/>
                </a:solidFill>
                <a:latin typeface="Aptos"/>
              </a:defRPr>
            </a:pPr>
            <a:r>
              <a:t>Manager: assign overdue work and balance capacity</a:t>
            </a:r>
          </a:p>
          <a:p>
            <a:pPr>
              <a:spcAft>
                <a:spcPts val="1200"/>
              </a:spcAft>
              <a:defRPr sz="2200" b="0">
                <a:solidFill>
                  <a:srgbClr val="193C31"/>
                </a:solidFill>
                <a:latin typeface="Aptos"/>
              </a:defRPr>
            </a:pPr>
            <a:r>
              <a:t>Analyst: reconcile cohorts, denominators and evidence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55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155E49"/>
                </a:solidFill>
                <a:latin typeface="Aptos"/>
              </a:defRPr>
            </a:pPr>
            <a:r>
              <a:t>LEADREVIVE  /  MANAGEMENT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000" b="1">
                <a:solidFill>
                  <a:srgbClr val="193C31"/>
                </a:solidFill>
                <a:latin typeface="Aptos"/>
              </a:defRPr>
            </a:pPr>
            <a:r>
              <a:t>Where attention is needed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36192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0">
                <a:solidFill>
                  <a:srgbClr val="52665F"/>
                </a:solidFill>
                <a:latin typeface="Aptos"/>
              </a:defRPr>
            </a:pPr>
            <a:r>
              <a:t>Frozen current-state cohort at 2026-10-24T15:44:29.684236Z; not historical reconstruction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28232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52665F"/>
                </a:solidFill>
                <a:latin typeface="Aptos"/>
              </a:defRPr>
            </a:pPr>
            <a:r>
              <a:t>SYNTHETIC  |  9a80207b950500a9  |  d0b3c24632  |  External live delivery disabled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2665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28600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0">
                <a:solidFill>
                  <a:srgbClr val="52665F"/>
                </a:solidFill>
                <a:latin typeface="Aptos"/>
              </a:defRPr>
            </a:pPr>
            <a:r>
              <a:t>Overdue / scheduled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880360"/>
            <a:ext cx="3566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900" b="1">
                <a:solidFill>
                  <a:srgbClr val="155E49"/>
                </a:solidFill>
                <a:latin typeface="Aptos"/>
              </a:defRPr>
            </a:pPr>
            <a:r>
              <a:t>411 / 586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228600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0">
                <a:solidFill>
                  <a:srgbClr val="52665F"/>
                </a:solidFill>
                <a:latin typeface="Aptos"/>
              </a:defRPr>
            </a:pPr>
            <a:r>
              <a:t>Estimated exposure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2880360"/>
            <a:ext cx="3566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900" b="1">
                <a:solidFill>
                  <a:srgbClr val="155E49"/>
                </a:solidFill>
                <a:latin typeface="Aptos"/>
              </a:defRPr>
            </a:pPr>
            <a:r>
              <a:t>INR 104,279,000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20" y="228600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0">
                <a:solidFill>
                  <a:srgbClr val="52665F"/>
                </a:solidFill>
                <a:latin typeface="Aptos"/>
              </a:defRPr>
            </a:pPr>
            <a:r>
              <a:t>First-response median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2880360"/>
            <a:ext cx="3566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900" b="1">
                <a:solidFill>
                  <a:srgbClr val="155E49"/>
                </a:solidFill>
                <a:latin typeface="Aptos"/>
              </a:defRPr>
            </a:pPr>
            <a:r>
              <a:t>59 hours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80060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193C31"/>
                </a:solidFill>
                <a:latin typeface="Aptos"/>
              </a:defRPr>
            </a:pPr>
            <a:r>
              <a:t>Exposure is an estimated open-opportunity sum. It is not lost or recovered revenue. Uncontacted leads are excluded from the response-time median.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55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155E49"/>
                </a:solidFill>
                <a:latin typeface="Aptos"/>
              </a:defRPr>
            </a:pPr>
            <a:r>
              <a:t>LEADREVIVE  /  MANAGEMENT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000" b="1">
                <a:solidFill>
                  <a:srgbClr val="193C31"/>
                </a:solidFill>
                <a:latin typeface="Aptos"/>
              </a:defRPr>
            </a:pPr>
            <a:r>
              <a:t>Diagnose workload before changing source spend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36192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0">
                <a:solidFill>
                  <a:srgbClr val="52665F"/>
                </a:solidFill>
                <a:latin typeface="Aptos"/>
              </a:defRPr>
            </a:pPr>
            <a:r>
              <a:t>SYNTHETIC portfolio 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28232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52665F"/>
                </a:solidFill>
                <a:latin typeface="Aptos"/>
              </a:defRPr>
            </a:pPr>
            <a:r>
              <a:t>SYNTHETIC  |  9a80207b950500a9  |  d0b3c24632  |  External live delivery disabled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2665F"/>
                </a:solidFill>
                <a:latin typeface="Aptos"/>
              </a:defRPr>
            </a:pPr>
            <a:r>
              <a:t>04</a:t>
            </a:r>
          </a:p>
        </p:txBody>
      </p:sp>
      <p:pic>
        <p:nvPicPr>
          <p:cNvPr id="8" name="Picture 7" descr="SS11d_PowerBI_Analysis.png"/>
          <p:cNvPicPr>
            <a:picLocks noChangeAspect="1"/>
          </p:cNvPicPr>
          <p:nvPr/>
        </p:nvPicPr>
        <p:blipFill>
          <a:blip r:embed="rId2"/>
          <a:srcRect l="3500" r="36000" t="40000" b="20500"/>
          <a:stretch>
            <a:fillRect/>
          </a:stretch>
        </p:blipFill>
        <p:spPr>
          <a:xfrm>
            <a:off x="1439357" y="2011680"/>
            <a:ext cx="9282805" cy="32461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94360" y="5431536"/>
            <a:ext cx="3520440" cy="32004"/>
          </a:xfrm>
          <a:prstGeom prst="rect">
            <a:avLst/>
          </a:prstGeom>
          <a:solidFill>
            <a:srgbClr val="155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5550408"/>
            <a:ext cx="35204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155E49"/>
                </a:solidFill>
                <a:latin typeface="Aptos"/>
              </a:defRPr>
            </a:pPr>
            <a:r>
              <a:t>Referral: 94 overdue</a:t>
            </a:r>
          </a:p>
          <a:p>
            <a:pPr>
              <a:spcAft>
                <a:spcPts val="1200"/>
              </a:spcAft>
              <a:defRPr sz="1800" b="1">
                <a:solidFill>
                  <a:srgbClr val="155E49"/>
                </a:solidFill>
                <a:latin typeface="Aptos"/>
              </a:defRPr>
            </a:pPr>
            <a:r>
              <a:t>Review workload first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16552" y="5431536"/>
            <a:ext cx="3520440" cy="32004"/>
          </a:xfrm>
          <a:prstGeom prst="rect">
            <a:avLst/>
          </a:prstGeom>
          <a:solidFill>
            <a:srgbClr val="155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16552" y="5550408"/>
            <a:ext cx="35204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155E49"/>
                </a:solidFill>
                <a:latin typeface="Aptos"/>
              </a:defRPr>
            </a:pPr>
            <a:r>
              <a:t>24 overdue unassigned</a:t>
            </a:r>
          </a:p>
          <a:p>
            <a:pPr>
              <a:spcAft>
                <a:spcPts val="1200"/>
              </a:spcAft>
              <a:defRPr sz="1800" b="1">
                <a:solidFill>
                  <a:srgbClr val="155E49"/>
                </a:solidFill>
                <a:latin typeface="Aptos"/>
              </a:defRPr>
            </a:pPr>
            <a:r>
              <a:t>Assign the next owner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38744" y="5431536"/>
            <a:ext cx="3520440" cy="32004"/>
          </a:xfrm>
          <a:prstGeom prst="rect">
            <a:avLst/>
          </a:prstGeom>
          <a:solidFill>
            <a:srgbClr val="155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38744" y="5550408"/>
            <a:ext cx="35204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155E49"/>
                </a:solidFill>
                <a:latin typeface="Aptos"/>
              </a:defRPr>
            </a:pPr>
            <a:r>
              <a:t>Exposure is estimated</a:t>
            </a:r>
          </a:p>
          <a:p>
            <a:pPr>
              <a:spcAft>
                <a:spcPts val="1200"/>
              </a:spcAft>
              <a:defRPr sz="1800" b="1">
                <a:solidFill>
                  <a:srgbClr val="155E49"/>
                </a:solidFill>
                <a:latin typeface="Aptos"/>
              </a:defRPr>
            </a:pPr>
            <a:r>
              <a:t>Not recovered revenue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55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155E49"/>
                </a:solidFill>
                <a:latin typeface="Aptos"/>
              </a:defRPr>
            </a:pPr>
            <a:r>
              <a:t>LEADREVIVE  /  MANAGEMENT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000" b="1">
                <a:solidFill>
                  <a:srgbClr val="193C31"/>
                </a:solidFill>
                <a:latin typeface="Aptos"/>
              </a:defRPr>
            </a:pPr>
            <a:r>
              <a:t>Four working workflows, clear approval boundaries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36192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0">
                <a:solidFill>
                  <a:srgbClr val="52665F"/>
                </a:solidFill>
                <a:latin typeface="Aptos"/>
              </a:defRPr>
            </a:pPr>
            <a:r>
              <a:t>Intake · recovery · outbox/approval · status sync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28232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52665F"/>
                </a:solidFill>
                <a:latin typeface="Aptos"/>
              </a:defRPr>
            </a:pPr>
            <a:r>
              <a:t>SYNTHETIC  |  9a80207b950500a9  |  d0b3c24632  |  External live delivery disabled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2665F"/>
                </a:solidFill>
                <a:latin typeface="Aptos"/>
              </a:defRPr>
            </a:pPr>
            <a:r>
              <a:t>05</a:t>
            </a:r>
          </a:p>
        </p:txBody>
      </p:sp>
      <p:pic>
        <p:nvPicPr>
          <p:cNvPr id="8" name="Picture 7" descr="SS11a_PowerBI_Workflows.png"/>
          <p:cNvPicPr>
            <a:picLocks noChangeAspect="1"/>
          </p:cNvPicPr>
          <p:nvPr/>
        </p:nvPicPr>
        <p:blipFill>
          <a:blip r:embed="rId2"/>
          <a:srcRect l="3500" r="36000" t="40000" b="21500"/>
          <a:stretch>
            <a:fillRect/>
          </a:stretch>
        </p:blipFill>
        <p:spPr>
          <a:xfrm>
            <a:off x="1318801" y="2011680"/>
            <a:ext cx="9523917" cy="32461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94360" y="5431536"/>
            <a:ext cx="3520440" cy="32004"/>
          </a:xfrm>
          <a:prstGeom prst="rect">
            <a:avLst/>
          </a:prstGeom>
          <a:solidFill>
            <a:srgbClr val="155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5550408"/>
            <a:ext cx="35204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155E49"/>
                </a:solidFill>
                <a:latin typeface="Aptos"/>
              </a:defRPr>
            </a:pPr>
            <a:r>
              <a:t>386 leads surfaced</a:t>
            </a:r>
          </a:p>
          <a:p>
            <a:pPr>
              <a:spcAft>
                <a:spcPts val="1200"/>
              </a:spcAft>
              <a:defRPr sz="1800" b="1">
                <a:solidFill>
                  <a:srgbClr val="155E49"/>
                </a:solidFill>
                <a:latin typeface="Aptos"/>
              </a:defRPr>
            </a:pPr>
            <a:r>
              <a:t>Owner reminders reserved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16552" y="5431536"/>
            <a:ext cx="3520440" cy="32004"/>
          </a:xfrm>
          <a:prstGeom prst="rect">
            <a:avLst/>
          </a:prstGeom>
          <a:solidFill>
            <a:srgbClr val="155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16552" y="5550408"/>
            <a:ext cx="35204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155E49"/>
                </a:solidFill>
                <a:latin typeface="Aptos"/>
              </a:defRPr>
            </a:pPr>
            <a:r>
              <a:t>6 sink-only approvals</a:t>
            </a:r>
          </a:p>
          <a:p>
            <a:pPr>
              <a:spcAft>
                <a:spcPts val="1200"/>
              </a:spcAft>
              <a:defRPr sz="1800" b="1">
                <a:solidFill>
                  <a:srgbClr val="155E49"/>
                </a:solidFill>
                <a:latin typeface="Aptos"/>
              </a:defRPr>
            </a:pPr>
            <a:r>
              <a:t>Exact-content review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38744" y="5431536"/>
            <a:ext cx="3520440" cy="32004"/>
          </a:xfrm>
          <a:prstGeom prst="rect">
            <a:avLst/>
          </a:prstGeom>
          <a:solidFill>
            <a:srgbClr val="155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38744" y="5550408"/>
            <a:ext cx="35204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155E49"/>
                </a:solidFill>
                <a:latin typeface="Aptos"/>
              </a:defRPr>
            </a:pPr>
            <a:r>
              <a:t>13 local sink acceptances</a:t>
            </a:r>
          </a:p>
          <a:p>
            <a:pPr>
              <a:spcAft>
                <a:spcPts val="1200"/>
              </a:spcAft>
              <a:defRPr sz="1800" b="1">
                <a:solidFill>
                  <a:srgbClr val="155E49"/>
                </a:solidFill>
                <a:latin typeface="Aptos"/>
              </a:defRPr>
            </a:pPr>
            <a:r>
              <a:t>External sending blocked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55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155E49"/>
                </a:solidFill>
                <a:latin typeface="Aptos"/>
              </a:defRPr>
            </a:pPr>
            <a:r>
              <a:t>LEADREVIVE  /  MANAGEMENT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000" b="1">
                <a:solidFill>
                  <a:srgbClr val="193C31"/>
                </a:solidFill>
                <a:latin typeface="Aptos"/>
              </a:defRPr>
            </a:pPr>
            <a:r>
              <a:t>The comparison is modeled, not a sales result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36192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0">
                <a:solidFill>
                  <a:srgbClr val="52665F"/>
                </a:solidFill>
                <a:latin typeface="Aptos"/>
              </a:defRPr>
            </a:pPr>
            <a:r>
              <a:t>Manual reviews at hours 12 and 24; hourly automation scan; identical assumed two-hour owner response. No sales or revenue outcome modeled.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28232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52665F"/>
                </a:solidFill>
                <a:latin typeface="Aptos"/>
              </a:defRPr>
            </a:pPr>
            <a:r>
              <a:t>SYNTHETIC  |  9a80207b950500a9  |  d0b3c24632  |  External live delivery disabled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2665F"/>
                </a:solidFill>
                <a:latin typeface="Aptos"/>
              </a:defRPr>
            </a:pPr>
            <a:r>
              <a:t>06</a:t>
            </a:r>
          </a:p>
        </p:txBody>
      </p:sp>
      <p:pic>
        <p:nvPicPr>
          <p:cNvPr id="8" name="Picture 7" descr="SS11b_PowerBI_Simulation.png"/>
          <p:cNvPicPr>
            <a:picLocks noChangeAspect="1"/>
          </p:cNvPicPr>
          <p:nvPr/>
        </p:nvPicPr>
        <p:blipFill>
          <a:blip r:embed="rId2"/>
          <a:srcRect l="3500" r="36000" t="40000" b="22500"/>
          <a:stretch>
            <a:fillRect/>
          </a:stretch>
        </p:blipFill>
        <p:spPr>
          <a:xfrm>
            <a:off x="1191815" y="2011680"/>
            <a:ext cx="9777888" cy="32461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94360" y="5431536"/>
            <a:ext cx="3520440" cy="32004"/>
          </a:xfrm>
          <a:prstGeom prst="rect">
            <a:avLst/>
          </a:prstGeom>
          <a:solidFill>
            <a:srgbClr val="155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5550408"/>
            <a:ext cx="35204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155E49"/>
                </a:solidFill>
                <a:latin typeface="Aptos"/>
              </a:defRPr>
            </a:pPr>
            <a:r>
              <a:t>20 vs 34 contacts</a:t>
            </a:r>
          </a:p>
          <a:p>
            <a:pPr>
              <a:spcAft>
                <a:spcPts val="1200"/>
              </a:spcAft>
              <a:defRPr sz="1800" b="1">
                <a:solidFill>
                  <a:srgbClr val="155E49"/>
                </a:solidFill>
                <a:latin typeface="Aptos"/>
              </a:defRPr>
            </a:pPr>
            <a:r>
              <a:t>Modeled at hour 24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16552" y="5431536"/>
            <a:ext cx="3520440" cy="32004"/>
          </a:xfrm>
          <a:prstGeom prst="rect">
            <a:avLst/>
          </a:prstGeom>
          <a:solidFill>
            <a:srgbClr val="155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16552" y="5550408"/>
            <a:ext cx="35204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155E49"/>
                </a:solidFill>
                <a:latin typeface="Aptos"/>
              </a:defRPr>
            </a:pPr>
            <a:r>
              <a:t>Same 40 due events</a:t>
            </a:r>
          </a:p>
          <a:p>
            <a:pPr>
              <a:spcAft>
                <a:spcPts val="1200"/>
              </a:spcAft>
              <a:defRPr sz="1800" b="1">
                <a:solidFill>
                  <a:srgbClr val="155E49"/>
                </a:solidFill>
                <a:latin typeface="Aptos"/>
              </a:defRPr>
            </a:pPr>
            <a:r>
              <a:t>Owner timing assumed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38744" y="5431536"/>
            <a:ext cx="3520440" cy="32004"/>
          </a:xfrm>
          <a:prstGeom prst="rect">
            <a:avLst/>
          </a:prstGeom>
          <a:solidFill>
            <a:srgbClr val="155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38744" y="5550408"/>
            <a:ext cx="35204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155E49"/>
                </a:solidFill>
                <a:latin typeface="Aptos"/>
              </a:defRPr>
            </a:pPr>
            <a:r>
              <a:t>Raw overdue unchanged</a:t>
            </a:r>
          </a:p>
          <a:p>
            <a:pPr>
              <a:spcAft>
                <a:spcPts val="1200"/>
              </a:spcAft>
              <a:defRPr sz="1800" b="1">
                <a:solidFill>
                  <a:srgbClr val="155E49"/>
                </a:solidFill>
                <a:latin typeface="Aptos"/>
              </a:defRPr>
            </a:pPr>
            <a:r>
              <a:t>Rescheduling still required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55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155E49"/>
                </a:solidFill>
                <a:latin typeface="Aptos"/>
              </a:defRPr>
            </a:pPr>
            <a:r>
              <a:t>LEADREVIVE  /  MANAGEMENT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000" b="1">
                <a:solidFill>
                  <a:srgbClr val="193C31"/>
                </a:solidFill>
                <a:latin typeface="Aptos"/>
              </a:defRPr>
            </a:pPr>
            <a:r>
              <a:t>Trust depends on matching definitions and versions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36192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0">
                <a:solidFill>
                  <a:srgbClr val="52665F"/>
                </a:solidFill>
                <a:latin typeface="Aptos"/>
              </a:defRPr>
            </a:pPr>
            <a:r>
              <a:t>SQL vs Python; CSV/Excel readback; Desktop DAX; pinned immutable generations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28232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52665F"/>
                </a:solidFill>
                <a:latin typeface="Aptos"/>
              </a:defRPr>
            </a:pPr>
            <a:r>
              <a:t>SYNTHETIC  |  9a80207b950500a9  |  d0b3c24632  |  External live delivery disabled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2665F"/>
                </a:solidFill>
                <a:latin typeface="Aptos"/>
              </a:defRPr>
            </a:pPr>
            <a:r>
              <a:t>07</a:t>
            </a:r>
          </a:p>
        </p:txBody>
      </p:sp>
      <p:pic>
        <p:nvPicPr>
          <p:cNvPr id="8" name="Picture 7" descr="SS11c_PowerBI_Reconciliation.png"/>
          <p:cNvPicPr>
            <a:picLocks noChangeAspect="1"/>
          </p:cNvPicPr>
          <p:nvPr/>
        </p:nvPicPr>
        <p:blipFill>
          <a:blip r:embed="rId2"/>
          <a:srcRect l="4000" r="57000" t="31000" b="50500"/>
          <a:stretch>
            <a:fillRect/>
          </a:stretch>
        </p:blipFill>
        <p:spPr>
          <a:xfrm>
            <a:off x="594360" y="2057400"/>
            <a:ext cx="10972800" cy="278784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94360" y="5431536"/>
            <a:ext cx="3520440" cy="32004"/>
          </a:xfrm>
          <a:prstGeom prst="rect">
            <a:avLst/>
          </a:prstGeom>
          <a:solidFill>
            <a:srgbClr val="155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5550408"/>
            <a:ext cx="35204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155E49"/>
                </a:solidFill>
                <a:latin typeface="Aptos"/>
              </a:defRPr>
            </a:pPr>
            <a:r>
              <a:t>13 KPIs reconciled</a:t>
            </a:r>
          </a:p>
          <a:p>
            <a:pPr>
              <a:spcAft>
                <a:spcPts val="1200"/>
              </a:spcAft>
              <a:defRPr sz="1800" b="1">
                <a:solidFill>
                  <a:srgbClr val="155E49"/>
                </a:solidFill>
                <a:latin typeface="Aptos"/>
              </a:defRPr>
            </a:pPr>
            <a:r>
              <a:t>Selected rows enlarged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16552" y="5431536"/>
            <a:ext cx="3520440" cy="32004"/>
          </a:xfrm>
          <a:prstGeom prst="rect">
            <a:avLst/>
          </a:prstGeom>
          <a:solidFill>
            <a:srgbClr val="155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16552" y="5550408"/>
            <a:ext cx="35204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155E49"/>
                </a:solidFill>
                <a:latin typeface="Aptos"/>
              </a:defRPr>
            </a:pPr>
            <a:r>
              <a:t>SQL / exports / DAX</a:t>
            </a:r>
          </a:p>
          <a:p>
            <a:pPr>
              <a:spcAft>
                <a:spcPts val="1200"/>
              </a:spcAft>
              <a:defRPr sz="1800" b="1">
                <a:solidFill>
                  <a:srgbClr val="155E49"/>
                </a:solidFill>
                <a:latin typeface="Aptos"/>
              </a:defRPr>
            </a:pPr>
            <a:r>
              <a:t>Same snapshot and revision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38744" y="5431536"/>
            <a:ext cx="3520440" cy="32004"/>
          </a:xfrm>
          <a:prstGeom prst="rect">
            <a:avLst/>
          </a:prstGeom>
          <a:solidFill>
            <a:srgbClr val="155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38744" y="5550408"/>
            <a:ext cx="35204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155E49"/>
                </a:solidFill>
                <a:latin typeface="Aptos"/>
              </a:defRPr>
            </a:pPr>
            <a:r>
              <a:t>Null is different from zero</a:t>
            </a:r>
          </a:p>
          <a:p>
            <a:pPr>
              <a:spcAft>
                <a:spcPts val="1200"/>
              </a:spcAft>
              <a:defRPr sz="1800" b="1">
                <a:solidFill>
                  <a:srgbClr val="155E49"/>
                </a:solidFill>
                <a:latin typeface="Aptos"/>
              </a:defRPr>
            </a:pPr>
            <a:r>
              <a:t>Full detail in the report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55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155E49"/>
                </a:solidFill>
                <a:latin typeface="Aptos"/>
              </a:defRPr>
            </a:pPr>
            <a:r>
              <a:t>LEADREVIVE  /  MANAGEMENT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000" b="1">
                <a:solidFill>
                  <a:srgbClr val="193C31"/>
                </a:solidFill>
                <a:latin typeface="Aptos"/>
              </a:defRPr>
            </a:pPr>
            <a:r>
              <a:t>Cost / benefit is a sensitivity exercise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36192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0">
                <a:solidFill>
                  <a:srgbClr val="52665F"/>
                </a:solidFill>
                <a:latin typeface="Aptos"/>
              </a:defRPr>
            </a:pPr>
            <a:r>
              <a:t>Assumed capacity value, not observed cash savings or ROI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28232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52665F"/>
                </a:solidFill>
                <a:latin typeface="Aptos"/>
              </a:defRPr>
            </a:pPr>
            <a:r>
              <a:t>SYNTHETIC  |  9a80207b950500a9  |  d0b3c24632  |  External live delivery disabled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2665F"/>
                </a:solidFill>
                <a:latin typeface="Aptos"/>
              </a:defRPr>
            </a:pPr>
            <a:r>
              <a:t>08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94360" y="2286000"/>
          <a:ext cx="109728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457200"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193C31"/>
                          </a:solidFill>
                        </a:defRPr>
                      </a:pPr>
                      <a:r>
                        <a:t>Assumed min saved/action</a:t>
                      </a:r>
                    </a:p>
                  </a:txBody>
                  <a:tcPr>
                    <a:solidFill>
                      <a:srgbClr val="E6F1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193C31"/>
                          </a:solidFill>
                        </a:defRPr>
                      </a:pPr>
                      <a:r>
                        <a:t>Capacity hours/month</a:t>
                      </a:r>
                    </a:p>
                  </a:txBody>
                  <a:tcPr>
                    <a:solidFill>
                      <a:srgbClr val="E6F1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193C31"/>
                          </a:solidFill>
                        </a:defRPr>
                      </a:pPr>
                      <a:r>
                        <a:t>Net capacity-equivalent INR/month</a:t>
                      </a:r>
                    </a:p>
                  </a:txBody>
                  <a:tcPr>
                    <a:solidFill>
                      <a:srgbClr val="E6F1E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193C31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193C31"/>
                          </a:solidFill>
                        </a:defRPr>
                      </a:pPr>
                      <a:r>
                        <a:t>3.33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193C31"/>
                          </a:solidFill>
                        </a:defRPr>
                      </a:pPr>
                      <a:r>
                        <a:t>-800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193C31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193C31"/>
                          </a:solidFill>
                        </a:defRPr>
                      </a:pPr>
                      <a:r>
                        <a:t>6.67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193C31"/>
                          </a:solidFill>
                        </a:defRPr>
                      </a:pPr>
                      <a:r>
                        <a:t>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193C31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193C31"/>
                          </a:solidFill>
                        </a:defRPr>
                      </a:pPr>
                      <a:r>
                        <a:t>10.0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193C31"/>
                          </a:solidFill>
                        </a:defRPr>
                      </a:pPr>
                      <a:r>
                        <a:t>1,200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94360" y="470916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193C31"/>
                </a:solidFill>
                <a:latin typeface="Aptos"/>
              </a:defRPr>
            </a:pPr>
            <a:r>
              <a:t>Assumptions: 200 actions/month; INR 300/hour; 24 setup hours; 4 maintenance hours/month; 12-month amortization. Hardware/electricity/licensing not measured.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55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155E49"/>
                </a:solidFill>
                <a:latin typeface="Aptos"/>
              </a:defRPr>
            </a:pPr>
            <a:r>
              <a:t>LEADREVIVE  /  MANAGEMENT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000" b="1">
                <a:solidFill>
                  <a:srgbClr val="193C31"/>
                </a:solidFill>
                <a:latin typeface="Aptos"/>
              </a:defRPr>
            </a:pPr>
            <a:r>
              <a:t>What a permissioned pilot should measure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36192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0">
                <a:solidFill>
                  <a:srgbClr val="52665F"/>
                </a:solidFill>
                <a:latin typeface="Aptos"/>
              </a:defRPr>
            </a:pPr>
            <a:r>
              <a:t>SYNTHETIC portfolio 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28232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52665F"/>
                </a:solidFill>
                <a:latin typeface="Aptos"/>
              </a:defRPr>
            </a:pPr>
            <a:r>
              <a:t>SYNTHETIC  |  9a80207b950500a9  |  d0b3c24632  |  External live delivery disabled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2665F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286000"/>
            <a:ext cx="108813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 b="0">
                <a:solidFill>
                  <a:srgbClr val="193C31"/>
                </a:solidFill>
                <a:latin typeface="Aptos"/>
              </a:defRPr>
            </a:pPr>
            <a:r>
              <a:t>1  Assign ownership and require a next action after contact.</a:t>
            </a:r>
          </a:p>
          <a:p>
            <a:pPr>
              <a:spcAft>
                <a:spcPts val="1200"/>
              </a:spcAft>
              <a:defRPr sz="2300" b="0">
                <a:solidFill>
                  <a:srgbClr val="193C31"/>
                </a:solidFill>
                <a:latin typeface="Aptos"/>
              </a:defRPr>
            </a:pPr>
            <a:r>
              <a:t>2  Measure owner response and actual administrative effort.</a:t>
            </a:r>
          </a:p>
          <a:p>
            <a:pPr>
              <a:spcAft>
                <a:spcPts val="1200"/>
              </a:spcAft>
              <a:defRPr sz="2300" b="0">
                <a:solidFill>
                  <a:srgbClr val="193C31"/>
                </a:solidFill>
                <a:latin typeface="Aptos"/>
              </a:defRPr>
            </a:pPr>
            <a:r>
              <a:t>3  Separate induced test faults from ordinary operations.</a:t>
            </a:r>
          </a:p>
          <a:p>
            <a:pPr>
              <a:spcAft>
                <a:spcPts val="1200"/>
              </a:spcAft>
              <a:defRPr sz="2300" b="0">
                <a:solidFill>
                  <a:srgbClr val="193C31"/>
                </a:solidFill>
                <a:latin typeface="Aptos"/>
              </a:defRPr>
            </a:pPr>
            <a:r>
              <a:t>4  Track completed follow-up before making revenue claims.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55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155E49"/>
                </a:solidFill>
                <a:latin typeface="Aptos"/>
              </a:defRPr>
            </a:pPr>
            <a:r>
              <a:t>LEADREVIVE  /  MANAGEMENT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000" b="1">
                <a:solidFill>
                  <a:srgbClr val="193C31"/>
                </a:solidFill>
                <a:latin typeface="Aptos"/>
              </a:defRPr>
            </a:pPr>
            <a:r>
              <a:t>Review gate and limitations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36192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0">
                <a:solidFill>
                  <a:srgbClr val="52665F"/>
                </a:solidFill>
                <a:latin typeface="Aptos"/>
              </a:defRPr>
            </a:pPr>
            <a:r>
              <a:t>Local single-user prototype; no public deployment or external email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28232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52665F"/>
                </a:solidFill>
                <a:latin typeface="Aptos"/>
              </a:defRPr>
            </a:pPr>
            <a:r>
              <a:t>SYNTHETIC  |  9a80207b950500a9  |  d0b3c24632  |  External live delivery disabled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2665F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286000"/>
            <a:ext cx="108813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0">
                <a:solidFill>
                  <a:srgbClr val="193C31"/>
                </a:solidFill>
                <a:latin typeface="Aptos"/>
              </a:defRPr>
            </a:pPr>
            <a:r>
              <a:t>Synthetic data and retained test fixtures</a:t>
            </a:r>
          </a:p>
          <a:p>
            <a:pPr>
              <a:spcAft>
                <a:spcPts val="1200"/>
              </a:spcAft>
              <a:defRPr sz="2200" b="0">
                <a:solidFill>
                  <a:srgbClr val="193C31"/>
                </a:solidFill>
                <a:latin typeface="Aptos"/>
              </a:defRPr>
            </a:pPr>
            <a:r>
              <a:t>Model assumptions are not observed business outcomes</a:t>
            </a:r>
          </a:p>
          <a:p>
            <a:pPr>
              <a:spcAft>
                <a:spcPts val="1200"/>
              </a:spcAft>
              <a:defRPr sz="2200" b="0">
                <a:solidFill>
                  <a:srgbClr val="193C31"/>
                </a:solidFill>
                <a:latin typeface="Aptos"/>
              </a:defRPr>
            </a:pPr>
            <a:r>
              <a:t>Current-state snapshots are not time-travel reporting</a:t>
            </a:r>
          </a:p>
          <a:p>
            <a:pPr>
              <a:spcAft>
                <a:spcPts val="1200"/>
              </a:spcAft>
              <a:defRPr sz="2200" b="0">
                <a:solidFill>
                  <a:srgbClr val="193C31"/>
                </a:solidFill>
                <a:latin typeface="Aptos"/>
              </a:defRPr>
            </a:pPr>
            <a:r>
              <a:t>Tested duplicate protection is not a universal exactly-once guarantee</a:t>
            </a:r>
          </a:p>
          <a:p>
            <a:pPr>
              <a:spcAft>
                <a:spcPts val="1200"/>
              </a:spcAft>
              <a:defRPr sz="2200" b="0">
                <a:solidFill>
                  <a:srgbClr val="193C31"/>
                </a:solidFill>
                <a:latin typeface="Aptos"/>
              </a:defRPr>
            </a:pPr>
          </a:p>
          <a:p>
            <a:pPr>
              <a:spcAft>
                <a:spcPts val="1200"/>
              </a:spcAft>
              <a:defRPr sz="2200" b="0">
                <a:solidFill>
                  <a:srgbClr val="193C31"/>
                </a:solidFill>
                <a:latin typeface="Aptos"/>
              </a:defRPr>
            </a:pPr>
            <a:r>
              <a:t>Phase 6, publishing and final sign-off require separate approval.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LeadRevive — Revenue operations management review</dc:title>
  <dc:subject>d0b3c24632131978efcdfa1d8cb57f1d46347e76d109e3a596ef0f8c8084c401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